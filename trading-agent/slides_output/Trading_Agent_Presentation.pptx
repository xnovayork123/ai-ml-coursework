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Stock Market Trading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DDEEFF"/>
                </a:solidFill>
              </a:rPr>
              <a:t>An autonomous agent that decides when to buy, sell, or hold Apple (AAPL) stock
by analyzing technical price indicators</a:t>
            </a:r>
            <a:r>
              <a:rPr lang="en-US" sz="2000" b="0" dirty="0">
                <a:solidFill>
                  <a:srgbClr val="DDEEFF"/>
                </a:solidFill>
              </a:rPr>
              <a:t>,</a:t>
            </a:r>
            <a:r>
              <a:rPr sz="2000" b="0" dirty="0">
                <a:solidFill>
                  <a:srgbClr val="DDEEFF"/>
                </a:solidFill>
              </a:rPr>
              <a:t> aiming to maximize portfolio returns.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>
                <a:solidFill>
                  <a:srgbClr val="88AACC"/>
                </a:solidFill>
              </a:rPr>
              <a:t>Emiliano Vel</a:t>
            </a:r>
            <a:r>
              <a:rPr lang="es-CO" sz="1500" dirty="0">
                <a:solidFill>
                  <a:srgbClr val="88AACC"/>
                </a:solidFill>
              </a:rPr>
              <a:t>á</a:t>
            </a:r>
            <a:r>
              <a:rPr sz="1500" b="0" dirty="0" err="1">
                <a:solidFill>
                  <a:srgbClr val="88AACC"/>
                </a:solidFill>
              </a:rPr>
              <a:t>squez</a:t>
            </a:r>
            <a:r>
              <a:rPr sz="1500" b="0" dirty="0">
                <a:solidFill>
                  <a:srgbClr val="88AACC"/>
                </a:solidFill>
              </a:rPr>
              <a:t>  |  SoSe26  |  3sem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Environment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Russell &amp; Norvig Environment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" y="1234440"/>
            <a:ext cx="2560320" cy="438912"/>
          </a:xfrm>
          <a:prstGeom prst="rect">
            <a:avLst/>
          </a:prstGeom>
          <a:solidFill>
            <a:srgbClr val="2C5F9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" y="1289304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234440"/>
            <a:ext cx="2286000" cy="438912"/>
          </a:xfrm>
          <a:prstGeom prst="rect">
            <a:avLst/>
          </a:prstGeom>
          <a:solidFill>
            <a:srgbClr val="2C5F9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70632" y="1289304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Classification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234440"/>
            <a:ext cx="6675120" cy="438912"/>
          </a:xfrm>
          <a:prstGeom prst="rect">
            <a:avLst/>
          </a:prstGeom>
          <a:solidFill>
            <a:srgbClr val="2C5F9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56632" y="1289304"/>
            <a:ext cx="6565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Reasoning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1673352"/>
            <a:ext cx="2560320" cy="731520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1764792"/>
            <a:ext cx="24231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Observable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673352"/>
            <a:ext cx="2286000" cy="731520"/>
          </a:xfrm>
          <a:prstGeom prst="rect">
            <a:avLst/>
          </a:prstGeom>
          <a:solidFill>
            <a:srgbClr val="27AE6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88920" y="1764792"/>
            <a:ext cx="214884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Partially Observable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673352"/>
            <a:ext cx="6675120" cy="731520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1764792"/>
            <a:ext cx="6537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2C3E50"/>
                </a:solidFill>
              </a:rPr>
              <a:t>Agent sees prices &amp; volume</a:t>
            </a:r>
            <a:r>
              <a:rPr lang="en-US" sz="1200" b="0" dirty="0">
                <a:solidFill>
                  <a:srgbClr val="2C3E50"/>
                </a:solidFill>
              </a:rPr>
              <a:t>,</a:t>
            </a:r>
            <a:r>
              <a:rPr sz="1200" b="0" dirty="0">
                <a:solidFill>
                  <a:srgbClr val="2C3E50"/>
                </a:solidFill>
              </a:rPr>
              <a:t> but NOT all market forces (news, macro, sentiment)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2441448"/>
            <a:ext cx="25603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" y="2532888"/>
            <a:ext cx="24231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Deterministic vs Stochastic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2441448"/>
            <a:ext cx="2286000" cy="731520"/>
          </a:xfrm>
          <a:prstGeom prst="rect">
            <a:avLst/>
          </a:prstGeom>
          <a:solidFill>
            <a:srgbClr val="27AE6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88920" y="2532888"/>
            <a:ext cx="214884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Stochastic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2441448"/>
            <a:ext cx="66751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74920" y="2532888"/>
            <a:ext cx="65379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Market is driven by countless unpredictable external factors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3209544"/>
            <a:ext cx="2560320" cy="731520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8600" y="3300984"/>
            <a:ext cx="24231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Episodic vs Sequential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3209544"/>
            <a:ext cx="2286000" cy="731520"/>
          </a:xfrm>
          <a:prstGeom prst="rect">
            <a:avLst/>
          </a:prstGeom>
          <a:solidFill>
            <a:srgbClr val="27AE6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88920" y="3300984"/>
            <a:ext cx="214884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Sequential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209544"/>
            <a:ext cx="6675120" cy="731520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74920" y="3300984"/>
            <a:ext cx="65379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Current trades affect portfolio state and all future decisions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3977640"/>
            <a:ext cx="25603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8600" y="4069080"/>
            <a:ext cx="24231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Static vs Dynamic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3977640"/>
            <a:ext cx="2286000" cy="731520"/>
          </a:xfrm>
          <a:prstGeom prst="rect">
            <a:avLst/>
          </a:prstGeom>
          <a:solidFill>
            <a:srgbClr val="27AE6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88920" y="4069080"/>
            <a:ext cx="214884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Dynamic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977640"/>
            <a:ext cx="66751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4920" y="4069080"/>
            <a:ext cx="65379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Market changes continuously, even while the agent is deliberating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4745736"/>
            <a:ext cx="2560320" cy="731520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28600" y="4837176"/>
            <a:ext cx="24231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Discrete vs Continuous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80" y="4745736"/>
            <a:ext cx="2286000" cy="731520"/>
          </a:xfrm>
          <a:prstGeom prst="rect">
            <a:avLst/>
          </a:prstGeom>
          <a:solidFill>
            <a:srgbClr val="27AE6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88920" y="4837176"/>
            <a:ext cx="214884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Continuous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4745736"/>
            <a:ext cx="6675120" cy="731520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4920" y="4837176"/>
            <a:ext cx="65379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Prices and volumes take continuous real values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5513832"/>
            <a:ext cx="25603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8600" y="5605272"/>
            <a:ext cx="24231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Single vs Multi-agent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7480" y="5513832"/>
            <a:ext cx="2286000" cy="731520"/>
          </a:xfrm>
          <a:prstGeom prst="rect">
            <a:avLst/>
          </a:prstGeom>
          <a:solidFill>
            <a:srgbClr val="27AE6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88920" y="5605272"/>
            <a:ext cx="214884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Multi-agent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5513832"/>
            <a:ext cx="66751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4920" y="5605272"/>
            <a:ext cx="65379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Millions of traders acting simultaneously influence prices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AACCFF"/>
                </a:solidFill>
              </a:rPr>
              <a:t>AAPL </a:t>
            </a:r>
            <a:r>
              <a:rPr lang="en-US" sz="1400" b="0" dirty="0">
                <a:solidFill>
                  <a:srgbClr val="AACCFF"/>
                </a:solidFill>
              </a:rPr>
              <a:t>-</a:t>
            </a:r>
            <a:r>
              <a:rPr sz="1400" b="0" dirty="0">
                <a:solidFill>
                  <a:srgbClr val="AACCFF"/>
                </a:solidFill>
              </a:rPr>
              <a:t> Yahoo Finance  |  2019</a:t>
            </a:r>
            <a:r>
              <a:rPr lang="en-US" sz="1400" b="0" dirty="0">
                <a:solidFill>
                  <a:srgbClr val="AACCFF"/>
                </a:solidFill>
              </a:rPr>
              <a:t>-</a:t>
            </a:r>
            <a:r>
              <a:rPr sz="1400" b="0" dirty="0">
                <a:solidFill>
                  <a:srgbClr val="AACCFF"/>
                </a:solidFill>
              </a:rPr>
              <a:t>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5029200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2C3E50"/>
                </a:solidFill>
              </a:rPr>
              <a:t>Source:  Yahoo Finance (via </a:t>
            </a:r>
            <a:r>
              <a:rPr sz="1400" dirty="0" err="1">
                <a:solidFill>
                  <a:srgbClr val="2C3E50"/>
                </a:solidFill>
              </a:rPr>
              <a:t>yfinance</a:t>
            </a:r>
            <a:r>
              <a:rPr sz="1400" dirty="0">
                <a:solidFill>
                  <a:srgbClr val="2C3E50"/>
                </a:solidFill>
              </a:rPr>
              <a:t> library)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2C3E50"/>
                </a:solidFill>
              </a:rPr>
              <a:t>Represents:  Apple Inc. daily stock data, 6 years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2C3E50"/>
                </a:solidFill>
              </a:rPr>
              <a:t>Size:  1,460 trading days  |  5 raw features (OHLCV)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2C3E50"/>
                </a:solidFill>
              </a:rPr>
              <a:t>Agent sensors:  real-time price feed, volume, computed indicators</a:t>
            </a:r>
          </a:p>
          <a:p>
            <a:pPr>
              <a:spcBef>
                <a:spcPts val="400"/>
              </a:spcBef>
            </a:pPr>
            <a:endParaRPr sz="1400" dirty="0">
              <a:solidFill>
                <a:srgbClr val="2C3E50"/>
              </a:solidFill>
            </a:endParaRPr>
          </a:p>
          <a:p>
            <a:pPr>
              <a:spcBef>
                <a:spcPts val="400"/>
              </a:spcBef>
            </a:pPr>
            <a:r>
              <a:rPr lang="en-US" sz="1400" dirty="0">
                <a:solidFill>
                  <a:srgbClr val="2C3E50"/>
                </a:solidFill>
              </a:rPr>
              <a:t>Data checks</a:t>
            </a:r>
            <a:r>
              <a:rPr sz="1400" dirty="0">
                <a:solidFill>
                  <a:srgbClr val="2C3E50"/>
                </a:solidFill>
              </a:rPr>
              <a:t>: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2C3E50"/>
                </a:solidFill>
              </a:rPr>
              <a:t>  - Near-balanced classes: 53.8% UP days / 46.2% DOWN days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2C3E50"/>
                </a:solidFill>
              </a:rPr>
              <a:t>  - High daily noise</a:t>
            </a:r>
            <a:r>
              <a:rPr lang="en-US" sz="1400" dirty="0">
                <a:solidFill>
                  <a:srgbClr val="2C3E50"/>
                </a:solidFill>
              </a:rPr>
              <a:t>,</a:t>
            </a:r>
            <a:r>
              <a:rPr sz="1400" dirty="0">
                <a:solidFill>
                  <a:srgbClr val="2C3E50"/>
                </a:solidFill>
              </a:rPr>
              <a:t> market is inherently stochastic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2C3E50"/>
                </a:solidFill>
              </a:rPr>
              <a:t>  - No external data (news, macro)</a:t>
            </a:r>
            <a:r>
              <a:rPr lang="en-US" sz="1400" dirty="0">
                <a:solidFill>
                  <a:srgbClr val="2C3E50"/>
                </a:solidFill>
              </a:rPr>
              <a:t>,</a:t>
            </a:r>
            <a:r>
              <a:rPr sz="1400" dirty="0">
                <a:solidFill>
                  <a:srgbClr val="2C3E50"/>
                </a:solidFill>
              </a:rPr>
              <a:t> intentional simplification</a:t>
            </a:r>
          </a:p>
        </p:txBody>
      </p:sp>
      <p:pic>
        <p:nvPicPr>
          <p:cNvPr id="7" name="Picture 6" descr="01_pri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43000"/>
            <a:ext cx="6492240" cy="27051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4892040"/>
            <a:ext cx="1371600" cy="237744"/>
          </a:xfrm>
          <a:prstGeom prst="rect">
            <a:avLst/>
          </a:prstGeom>
          <a:solidFill>
            <a:srgbClr val="2C5F9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" y="4910328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4892040"/>
            <a:ext cx="2286000" cy="237744"/>
          </a:xfrm>
          <a:prstGeom prst="rect">
            <a:avLst/>
          </a:prstGeom>
          <a:solidFill>
            <a:srgbClr val="2C5F9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00784" y="4910328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4892040"/>
            <a:ext cx="1645920" cy="237744"/>
          </a:xfrm>
          <a:prstGeom prst="rect">
            <a:avLst/>
          </a:prstGeom>
          <a:solidFill>
            <a:srgbClr val="2C5F9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86784" y="4910328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Captures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129784"/>
            <a:ext cx="1371600" cy="23774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" y="5148072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RSI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5129784"/>
            <a:ext cx="2286000" cy="23774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00784" y="5148072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Relative Strength Index (14d)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5129784"/>
            <a:ext cx="1645920" cy="23774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86784" y="5148072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Overbought / Oversold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367528"/>
            <a:ext cx="1371600" cy="237744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9184" y="5385816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SMA_ratio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5367528"/>
            <a:ext cx="2286000" cy="237744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00784" y="5385816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SMA20 / SMA50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5367528"/>
            <a:ext cx="1645920" cy="237744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86784" y="5385816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Trend direction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605272"/>
            <a:ext cx="1371600" cy="23774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9184" y="562356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BB_position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5605272"/>
            <a:ext cx="2286000" cy="23774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700784" y="5623560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Bollinger Band position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5605272"/>
            <a:ext cx="1645920" cy="23774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86784" y="5623560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Proximity to support/resistance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843016"/>
            <a:ext cx="1371600" cy="237744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9184" y="5861304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MACD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0" y="5843016"/>
            <a:ext cx="2286000" cy="237744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700784" y="5861304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12d EMA - 26d EMA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5843016"/>
            <a:ext cx="1645920" cy="237744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986784" y="5861304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Momentum shift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6080760"/>
            <a:ext cx="1371600" cy="23774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9184" y="6099048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Daily_return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0" y="6080760"/>
            <a:ext cx="2286000" cy="23774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700784" y="6099048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Daily % price change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6080760"/>
            <a:ext cx="1645920" cy="23774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86784" y="6099048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Short-term momentum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6318504"/>
            <a:ext cx="1371600" cy="237744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9184" y="6336792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Volume_change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0" y="6318504"/>
            <a:ext cx="2286000" cy="237744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700784" y="6336792"/>
            <a:ext cx="22128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Daily volume % change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31920" y="6318504"/>
            <a:ext cx="1645920" cy="237744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986784" y="6336792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Market conviction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Understanding structure, relationships, and distributions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3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303520" cy="3977640"/>
          </a:xfrm>
          <a:prstGeom prst="rect">
            <a:avLst/>
          </a:prstGeom>
        </p:spPr>
      </p:pic>
      <p:pic>
        <p:nvPicPr>
          <p:cNvPr id="7" name="Picture 6" descr="02_class_balance_and_retu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188720"/>
            <a:ext cx="6309360" cy="21971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577840"/>
            <a:ext cx="1161288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>
                <a:solidFill>
                  <a:srgbClr val="2C3E50"/>
                </a:solidFill>
              </a:rPr>
              <a:t>Key findings: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2C3E50"/>
                </a:solidFill>
              </a:rPr>
              <a:t>- RSI &amp; </a:t>
            </a:r>
            <a:r>
              <a:rPr sz="1300" dirty="0" err="1">
                <a:solidFill>
                  <a:srgbClr val="2C3E50"/>
                </a:solidFill>
              </a:rPr>
              <a:t>BB_position</a:t>
            </a:r>
            <a:r>
              <a:rPr sz="1300" dirty="0">
                <a:solidFill>
                  <a:srgbClr val="2C3E50"/>
                </a:solidFill>
              </a:rPr>
              <a:t> are positively correlated (both track price extremes)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2C3E50"/>
                </a:solidFill>
              </a:rPr>
              <a:t>- </a:t>
            </a:r>
            <a:r>
              <a:rPr sz="1300" dirty="0" err="1">
                <a:solidFill>
                  <a:srgbClr val="2C3E50"/>
                </a:solidFill>
              </a:rPr>
              <a:t>Daily_return</a:t>
            </a:r>
            <a:r>
              <a:rPr sz="1300" dirty="0">
                <a:solidFill>
                  <a:srgbClr val="2C3E50"/>
                </a:solidFill>
              </a:rPr>
              <a:t> has near-zero correlation with Target</a:t>
            </a:r>
            <a:r>
              <a:rPr lang="en-US" sz="1300" dirty="0">
                <a:solidFill>
                  <a:srgbClr val="2C3E50"/>
                </a:solidFill>
              </a:rPr>
              <a:t>, meaning </a:t>
            </a:r>
            <a:r>
              <a:rPr sz="1300" dirty="0">
                <a:solidFill>
                  <a:srgbClr val="2C3E50"/>
                </a:solidFill>
              </a:rPr>
              <a:t>market is hard to predict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2C3E50"/>
                </a:solidFill>
              </a:rPr>
              <a:t>- Returns follow a near-normal distribution centered at </a:t>
            </a:r>
            <a:r>
              <a:rPr lang="en-US" sz="1300" dirty="0">
                <a:solidFill>
                  <a:srgbClr val="2C3E50"/>
                </a:solidFill>
              </a:rPr>
              <a:t>around </a:t>
            </a:r>
            <a:r>
              <a:rPr sz="1300" dirty="0">
                <a:solidFill>
                  <a:srgbClr val="2C3E50"/>
                </a:solidFill>
              </a:rPr>
              <a:t>0% (efficient market)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2C3E50"/>
                </a:solidFill>
              </a:rPr>
              <a:t>- Class balance is healthy: 53.8% UP vs 46.2% DOWN</a:t>
            </a:r>
            <a:r>
              <a:rPr lang="en-US" sz="1300" dirty="0">
                <a:solidFill>
                  <a:srgbClr val="2C3E50"/>
                </a:solidFill>
              </a:rPr>
              <a:t>,</a:t>
            </a:r>
            <a:r>
              <a:rPr sz="1300" dirty="0">
                <a:solidFill>
                  <a:srgbClr val="2C3E50"/>
                </a:solidFill>
              </a:rPr>
              <a:t> no resampling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Model &amp; 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Supervised Learning — Binary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828800"/>
            <a:ext cx="1828800" cy="502920"/>
          </a:xfrm>
          <a:prstGeom prst="rect">
            <a:avLst/>
          </a:prstGeom>
          <a:solidFill>
            <a:srgbClr val="2C3E50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" y="1883664"/>
            <a:ext cx="1700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Percepts
(Price, Volume)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938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7AE60"/>
                </a:solidFill>
              </a:rPr>
              <a:t>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828800"/>
            <a:ext cx="2286000" cy="502920"/>
          </a:xfrm>
          <a:prstGeom prst="rect">
            <a:avLst/>
          </a:prstGeom>
          <a:solidFill>
            <a:srgbClr val="2C5F9E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33472" y="1883664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Feature Engineering
(RSI, SMA, MACD...)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938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7AE60"/>
                </a:solidFill>
              </a:rPr>
              <a:t>&gt;&gt;&gt;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828800"/>
            <a:ext cx="2103120" cy="502920"/>
          </a:xfrm>
          <a:prstGeom prst="rect">
            <a:avLst/>
          </a:prstGeom>
          <a:solidFill>
            <a:srgbClr val="1A2B4A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68112" y="1883664"/>
            <a:ext cx="1975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Random Forest
Classifier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938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7AE60"/>
                </a:solidFill>
              </a:rPr>
              <a:t>&gt;&gt;&gt;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2194560" cy="502920"/>
          </a:xfrm>
          <a:prstGeom prst="rect">
            <a:avLst/>
          </a:prstGeom>
          <a:solidFill>
            <a:srgbClr val="27AE60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9872" y="1883664"/>
            <a:ext cx="2066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Decision
BUY / SELL / 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19385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7AE60"/>
                </a:solidFill>
              </a:rPr>
              <a:t>&gt;&gt;&gt;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0" y="1828800"/>
            <a:ext cx="1188720" cy="502920"/>
          </a:xfrm>
          <a:prstGeom prst="rect">
            <a:avLst/>
          </a:prstGeom>
          <a:solidFill>
            <a:srgbClr val="2C3E50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63072" y="1883664"/>
            <a:ext cx="1060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Market
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6060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Type:  Supervised Learning</a:t>
            </a:r>
          </a:p>
          <a:p>
            <a:pPr>
              <a:spcBef>
                <a:spcPts val="400"/>
              </a:spcBef>
            </a:pPr>
            <a:endParaRPr sz="1400">
              <a:solidFill>
                <a:srgbClr val="2C3E50"/>
              </a:solidFill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Primary Model:  Random Forest Classifier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  - n_estimators = 200 trees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  - max_depth = 6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  - Handles non-linear relationships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  - Provides feature importance</a:t>
            </a:r>
          </a:p>
          <a:p>
            <a:pPr>
              <a:spcBef>
                <a:spcPts val="400"/>
              </a:spcBef>
            </a:pPr>
            <a:endParaRPr sz="1400">
              <a:solidFill>
                <a:srgbClr val="2C3E50"/>
              </a:solidFill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Baseline:  Logistic Regression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  - Used to compare vs. random forest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  - Requires feature scaling (StandardScaler)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606040"/>
            <a:ext cx="6126480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2C3E50"/>
                </a:solidFill>
              </a:rPr>
              <a:t>Train / Test Split:  Temporal (no shuffle)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2C3E50"/>
                </a:solidFill>
              </a:rPr>
              <a:t>  - Train: Mar 2019 -&gt; Oct 2023  (80%)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2C3E50"/>
                </a:solidFill>
              </a:rPr>
              <a:t>  - Test:  Nov 2023 -&gt; Dec 2024  (20%)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2C3E50"/>
                </a:solidFill>
              </a:rPr>
              <a:t>  - Shuffling would cause data leakage in time series</a:t>
            </a:r>
          </a:p>
          <a:p>
            <a:pPr>
              <a:spcBef>
                <a:spcPts val="400"/>
              </a:spcBef>
            </a:pPr>
            <a:endParaRPr sz="1400" dirty="0">
              <a:solidFill>
                <a:srgbClr val="2C3E50"/>
              </a:solidFill>
            </a:endParaRP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2C3E50"/>
                </a:solidFill>
              </a:rPr>
              <a:t>Decision Rule: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2C3E50"/>
                </a:solidFill>
              </a:rPr>
              <a:t>  - Predict UP  -&gt; BUY  (if no position held)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2C3E50"/>
                </a:solidFill>
              </a:rPr>
              <a:t>  - Predict DOWN -&gt; SELL (if position held)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2C3E50"/>
                </a:solidFill>
              </a:rPr>
              <a:t>  - Low confidence -&gt; HOLD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Model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Random Forest vs. Logistic Regression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4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7132320" cy="3405367"/>
          </a:xfrm>
          <a:prstGeom prst="rect">
            <a:avLst/>
          </a:prstGeom>
        </p:spPr>
      </p:pic>
      <p:pic>
        <p:nvPicPr>
          <p:cNvPr id="7" name="Picture 6" descr="05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188720"/>
            <a:ext cx="4572000" cy="2286000"/>
          </a:xfrm>
          <a:prstGeom prst="rect">
            <a:avLst/>
          </a:prstGeom>
        </p:spPr>
      </p:pic>
      <p:pic>
        <p:nvPicPr>
          <p:cNvPr id="8" name="Picture 7" descr="06_accuracy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3657600"/>
            <a:ext cx="4572000" cy="304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5532120"/>
            <a:ext cx="6949440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>
                <a:solidFill>
                  <a:srgbClr val="2C3E50"/>
                </a:solidFill>
              </a:rPr>
              <a:t>Random Forest: 51.4%   |   Logistic Regression: 50.0%   |   Random baseline: 50.0%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2C3E50"/>
                </a:solidFill>
              </a:rPr>
              <a:t>Why is accuracy low?  The stock market is stochastic</a:t>
            </a:r>
            <a:r>
              <a:rPr lang="en-US" sz="1300" dirty="0">
                <a:solidFill>
                  <a:srgbClr val="2C3E50"/>
                </a:solidFill>
              </a:rPr>
              <a:t>,</a:t>
            </a:r>
            <a:r>
              <a:rPr sz="1300" dirty="0">
                <a:solidFill>
                  <a:srgbClr val="2C3E50"/>
                </a:solidFill>
              </a:rPr>
              <a:t> news, macro events, and sentiment are not in the dataset. This is expected, not a failure.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2C3E50"/>
                </a:solidFill>
              </a:rPr>
              <a:t>Improvement ideas: add news sentiment analysis, macro indicators (interest rates, VIX), or switch to Reinforcement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Model in the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From learned model to real-world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66928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dirty="0">
                <a:solidFill>
                  <a:srgbClr val="2C3E50"/>
                </a:solidFill>
              </a:rPr>
              <a:t>How the model fits the agent:</a:t>
            </a:r>
          </a:p>
          <a:p>
            <a:pPr>
              <a:spcBef>
                <a:spcPts val="400"/>
              </a:spcBef>
            </a:pPr>
            <a:endParaRPr sz="1500" dirty="0">
              <a:solidFill>
                <a:srgbClr val="2C3E50"/>
              </a:solidFill>
            </a:endParaRPr>
          </a:p>
          <a:p>
            <a:pPr>
              <a:spcBef>
                <a:spcPts val="400"/>
              </a:spcBef>
            </a:pPr>
            <a:r>
              <a:rPr sz="1500" dirty="0">
                <a:solidFill>
                  <a:srgbClr val="2C3E50"/>
                </a:solidFill>
              </a:rPr>
              <a:t>- Acts as the agent's </a:t>
            </a:r>
            <a:r>
              <a:rPr lang="en-US" sz="1500" dirty="0">
                <a:solidFill>
                  <a:srgbClr val="2C3E50"/>
                </a:solidFill>
              </a:rPr>
              <a:t>"</a:t>
            </a:r>
            <a:r>
              <a:rPr sz="1500" dirty="0">
                <a:solidFill>
                  <a:srgbClr val="2C3E50"/>
                </a:solidFill>
              </a:rPr>
              <a:t>market perception module</a:t>
            </a:r>
            <a:r>
              <a:rPr lang="en-US" sz="1500" dirty="0">
                <a:solidFill>
                  <a:srgbClr val="2C3E50"/>
                </a:solidFill>
              </a:rPr>
              <a:t>"</a:t>
            </a:r>
            <a:endParaRPr sz="1500" dirty="0">
              <a:solidFill>
                <a:srgbClr val="2C3E50"/>
              </a:solidFill>
            </a:endParaRPr>
          </a:p>
          <a:p>
            <a:pPr>
              <a:spcBef>
                <a:spcPts val="400"/>
              </a:spcBef>
            </a:pPr>
            <a:r>
              <a:rPr sz="1500" dirty="0">
                <a:solidFill>
                  <a:srgbClr val="2C3E50"/>
                </a:solidFill>
              </a:rPr>
              <a:t>- Each trading day: percepts -&gt; features -&gt; prediction -&gt; action</a:t>
            </a:r>
          </a:p>
          <a:p>
            <a:pPr>
              <a:spcBef>
                <a:spcPts val="400"/>
              </a:spcBef>
            </a:pPr>
            <a:r>
              <a:rPr sz="1500" dirty="0">
                <a:solidFill>
                  <a:srgbClr val="2C3E50"/>
                </a:solidFill>
              </a:rPr>
              <a:t>- Model output feeds directly into the agent's decision logic</a:t>
            </a:r>
          </a:p>
          <a:p>
            <a:pPr>
              <a:spcBef>
                <a:spcPts val="400"/>
              </a:spcBef>
            </a:pPr>
            <a:r>
              <a:rPr sz="1500" dirty="0">
                <a:solidFill>
                  <a:srgbClr val="2C3E50"/>
                </a:solidFill>
              </a:rPr>
              <a:t>- Agent can threshold confidence: only act when P(class) &gt; 0.6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2801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2C3E50"/>
                </a:solidFill>
              </a:rPr>
              <a:t>What the model enables the agent to understand:</a:t>
            </a:r>
          </a:p>
          <a:p>
            <a:pPr>
              <a:spcBef>
                <a:spcPts val="400"/>
              </a:spcBef>
            </a:pPr>
            <a:endParaRPr sz="1500">
              <a:solidFill>
                <a:srgbClr val="2C3E50"/>
              </a:solidFill>
            </a:endParaRP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C3E50"/>
                </a:solidFill>
              </a:rPr>
              <a:t>- Whether current technical indicators signal a buying or selling opportunity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C3E50"/>
                </a:solidFill>
              </a:rPr>
              <a:t>- Which features matter most (Daily_return is the top predictor per feature importance)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C3E50"/>
                </a:solidFill>
              </a:rPr>
              <a:t>- The uncertainty of each prediction (probability scores, not just 0/1)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297680"/>
            <a:ext cx="11612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Real-world limitations of this model in the agent:</a:t>
            </a:r>
          </a:p>
          <a:p>
            <a:pPr>
              <a:spcBef>
                <a:spcPts val="400"/>
              </a:spcBef>
            </a:pPr>
            <a:endParaRPr sz="1400">
              <a:solidFill>
                <a:srgbClr val="2C3E50"/>
              </a:solidFill>
            </a:endParaRP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- 51% accuracy means high uncertainty -&gt; agent must use risk management (stop-loss, position sizing)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- Model trained on past data -&gt; may fail in new market regimes (e.g. 2020 COVID crash)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- No memory of its own past trades -&gt; a real agent would need state tracking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- Missing percepts: news sentiment, earnings reports, macroeconomic data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- Future direction: combine this supervised model with RL so the agent learns from its own P&amp;L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830</Words>
  <Application>Microsoft Office PowerPoint</Application>
  <PresentationFormat>Custom</PresentationFormat>
  <Paragraphs>121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Emiliano Velasquez Lopez</cp:lastModifiedBy>
  <cp:revision>3</cp:revision>
  <dcterms:created xsi:type="dcterms:W3CDTF">2013-01-27T09:14:16Z</dcterms:created>
  <dcterms:modified xsi:type="dcterms:W3CDTF">2026-07-06T11:05:48Z</dcterms:modified>
  <cp:category/>
</cp:coreProperties>
</file>